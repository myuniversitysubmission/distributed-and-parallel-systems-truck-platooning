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84" r:id="rId3"/>
    <p:sldId id="293" r:id="rId4"/>
    <p:sldId id="286" r:id="rId5"/>
    <p:sldId id="281" r:id="rId6"/>
    <p:sldId id="283" r:id="rId7"/>
    <p:sldId id="282" r:id="rId8"/>
    <p:sldId id="287" r:id="rId9"/>
    <p:sldId id="295" r:id="rId10"/>
    <p:sldId id="292" r:id="rId11"/>
    <p:sldId id="288" r:id="rId12"/>
    <p:sldId id="289" r:id="rId13"/>
    <p:sldId id="290" r:id="rId14"/>
    <p:sldId id="291" r:id="rId15"/>
    <p:sldId id="264" r:id="rId16"/>
    <p:sldId id="275" r:id="rId17"/>
    <p:sldId id="276" r:id="rId18"/>
    <p:sldId id="277" r:id="rId19"/>
    <p:sldId id="270" r:id="rId20"/>
    <p:sldId id="278" r:id="rId21"/>
    <p:sldId id="279" r:id="rId22"/>
    <p:sldId id="280" r:id="rId23"/>
    <p:sldId id="266" r:id="rId24"/>
    <p:sldId id="268" r:id="rId25"/>
    <p:sldId id="271" r:id="rId26"/>
    <p:sldId id="274" r:id="rId27"/>
    <p:sldId id="272" r:id="rId28"/>
    <p:sldId id="294" r:id="rId29"/>
    <p:sldId id="296" r:id="rId30"/>
    <p:sldId id="297" r:id="rId31"/>
    <p:sldId id="298" r:id="rId32"/>
    <p:sldId id="299" r:id="rId33"/>
    <p:sldId id="259" r:id="rId34"/>
    <p:sldId id="257" r:id="rId35"/>
    <p:sldId id="258" r:id="rId36"/>
    <p:sldId id="260" r:id="rId37"/>
    <p:sldId id="261" r:id="rId38"/>
    <p:sldId id="262" r:id="rId39"/>
    <p:sldId id="263" r:id="rId40"/>
    <p:sldId id="273" r:id="rId41"/>
    <p:sldId id="30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DEB2E-E7B1-4210-11F3-EB2374AA7B22}" v="50" dt="2026-02-04T12:34:15.305"/>
    <p1510:client id="{2CC251DD-0147-AA4A-A5FA-A45F1C8D8F59}" v="11" dt="2026-02-04T12:29:13.778"/>
    <p1510:client id="{77BDD341-3803-FD28-A802-5CF46E52A723}" v="18" dt="2026-02-04T11:37:04.541"/>
    <p1510:client id="{9555D8BD-FA37-6069-F4C6-BC664E866495}" v="90" dt="2026-02-04T12:22:47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C5A93-E241-4F41-8FF2-9DFE7D6B3B9C}" type="datetimeFigureOut"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94A70-33FC-43EA-B4DE-1A17B6D127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18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Ashwin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94A70-33FC-43EA-B4DE-1A17B6D127BC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81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Ulas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94A70-33FC-43EA-B4DE-1A17B6D127BC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10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ulas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94A70-33FC-43EA-B4DE-1A17B6D127BC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8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Harsha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94A70-33FC-43EA-B4DE-1A17B6D127BC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69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Harsha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94A70-33FC-43EA-B4DE-1A17B6D127BC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96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Ashwin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94A70-33FC-43EA-B4DE-1A17B6D127BC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96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94A70-33FC-43EA-B4DE-1A17B6D127BC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Harsha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94A70-33FC-43EA-B4DE-1A17B6D127BC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28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Harsha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94A70-33FC-43EA-B4DE-1A17B6D127BC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0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7586-4D75-ADA0-F8F5-8037FA673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A3274-060A-E4F9-A7A3-3AD60590D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8BFE6-DC90-B16C-D6AA-8A8A7761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8DE4B-85B2-EEB2-4E8E-0BE2A5D1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37528-5119-C3CD-021D-11791327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269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AB6E-0754-A1DA-20FB-E1F83D0A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228EC-86C7-38E6-35AE-7D97BF716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8325F-5B72-D598-10E5-0A910182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4D29-55DB-8FC3-F362-6207BA74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6469C-625F-9EAE-ADF0-9F17CB4BA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421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4A58-06BE-32CC-3826-571D9071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8B73F-E1D1-CEEE-C758-D1E9D7EEA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BEE5B-83F1-75DC-46A3-0EDC6AD8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F81D1-1164-E06E-F5F7-3F0EB6FA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88732-7E35-F7FF-6CB0-FF5A4423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883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24F8-0E1C-56F9-FBBE-3BA1C7058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2ADE-3910-683C-88B1-FB8AA2DBA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E3764-A00A-7E97-4A2E-9C929AE87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CFD3A-F44E-132A-3141-F237268E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39D12-6E30-AB24-F94D-E801B1DC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F56A1-DD61-92D3-20B6-C404CAC8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96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3183-EF91-ABA4-6197-34F74CDD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DB00A-0A17-CB70-36BD-19E9FA3FD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03ED1-78BB-BCFC-3DF8-F50EE29CC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B07A8-CAE1-982C-D35D-19A51DA17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266373-2A5A-CE2A-3E3A-543FC25FA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19282-6FE2-BF8A-4F1F-60B46AFFE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7F448-5FDF-3C18-C4F8-9DBAC1E7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37E1F6-650C-EA9A-5B79-C36BD3E1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40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809E-528E-7BBC-8B8F-25AB81484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B41A3-643C-C2B0-7059-59B8946A3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7D02A-A48F-E637-BDA1-46ADE58B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A0C82-56E1-4BE5-EA8F-0B0DF4EF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469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62C4E-6324-A23A-299D-91BE04C8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E4399E-56C8-4F08-F588-66E0CB47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798FF-F5EC-BE24-EF43-89A21CEF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69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42D0-07DA-0C5C-A613-7D586F9FB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F4435-0C9F-68C7-B69B-3AF5DB2D1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03180-477F-67D7-DF3A-602E63C62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63635-CED3-EFE4-27AA-933075DD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13C2-7224-3B82-5913-CD9F7E7E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AB6F5-F80F-DDA3-AC0D-6435FA1B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71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E76D-E50A-05F3-F0B1-DE12C071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C7D97-CBC9-7659-BD70-2499FA922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1EC88-8C20-B1E4-52A4-9FAB13092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A901E-CA50-C38B-420C-4B7B6F86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E987E-FBD6-8531-3D00-294EC2D9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FE9C9-E095-1AE9-AA42-070A26D8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5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AA97-C168-ADAB-23F0-03560BE3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4FC88-1A1C-A7F0-9BC9-0C5007C2F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B73DD-D760-C0F4-9520-F77D1591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2EA6A-EF4D-136B-0D43-817F07956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80B36-5621-8F46-6C04-2B2C4680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43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3C8B5-0DB1-5ABE-8830-A4AD581CA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745A0-C98B-3DBA-5A12-0E5933E1E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F6D6-23BC-1002-B7AE-EFAA048F1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CDC74-37EB-A362-34F2-551530BC4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6AE96-A55D-99E5-8480-EBF49BB1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87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B4BFF0-1A6A-DCF9-49AA-7E317C9F8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04EC4-421F-3622-CEC9-BD634C37A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4ACD1-ADBA-09DD-CF46-BE268109C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26A68-7E12-4D5D-8D67-909F9CBB567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EEF30-2DCE-3A2E-ABE4-C8323411B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00320-5F91-AF6D-25B3-87FE9E262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6E508-2293-4D65-8699-1AD8D9B05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13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onedrive.live.com/personal/adc55dec26032899/_layouts/15/Doc.aspx?sourcedoc=%7Bb797563a-5ca2-4eb0-b201-456474a15a4a%7D&amp;action=default&amp;redeem=aHR0cHM6Ly8xZHJ2Lm1zL3cvYy9hZGM1NWRlYzI2MDMyODk5L0lRQTZWcGUzb2x5d1RySUJSV1Iwb1ZwS0FYOFZyZUFqNmFadFZDQ2FOUldhdm8w&amp;slrid=64d0eea1-0035-6000-554c-467ba2483697&amp;originalPath=aHR0cHM6Ly8xZHJ2Lm1zL3cvYy9hZGM1NWRlYzI2MDMyODk5L0lRQTZWcGUzb2x5d1RySUJSV1Iwb1ZwS0FYOFZyZUFqNmFadFZDQ2FOUldhdm8wP3J0aW1lPUVMS194QXBZM2tn&amp;CID=fb1beb98-0c8e-4d0e-abc6-d2e4119f7c46&amp;_SRM=0:G:46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1F3ED1-D33D-CDB5-D300-EC5534CB6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676B7-46AE-B53C-1AAB-2D4BD8B31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923" y="0"/>
            <a:ext cx="4523624" cy="15911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58A224-02AF-C34A-9EDF-BC3A68274B05}"/>
              </a:ext>
            </a:extLst>
          </p:cNvPr>
          <p:cNvSpPr txBox="1"/>
          <p:nvPr/>
        </p:nvSpPr>
        <p:spPr>
          <a:xfrm>
            <a:off x="176981" y="168912"/>
            <a:ext cx="59190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latin typeface="Arial Black" panose="020B0A04020102020204" pitchFamily="34" charset="0"/>
              </a:rPr>
              <a:t>Truck Platooning</a:t>
            </a:r>
            <a:endParaRPr lang="en-IN" sz="5400" b="1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35B52-F37F-B07B-521B-9609F90A08E4}"/>
              </a:ext>
            </a:extLst>
          </p:cNvPr>
          <p:cNvSpPr txBox="1"/>
          <p:nvPr/>
        </p:nvSpPr>
        <p:spPr>
          <a:xfrm>
            <a:off x="5586767" y="3550587"/>
            <a:ext cx="5590248" cy="132343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rial Black"/>
              </a:rPr>
              <a:t>Ashwin Balaji Arun Kumar</a:t>
            </a:r>
            <a:r>
              <a:rPr lang="en-IN" sz="2000" dirty="0">
                <a:latin typeface="Arial Black"/>
              </a:rPr>
              <a:t> - 7224514</a:t>
            </a:r>
            <a:endParaRPr lang="en-US" sz="2000" dirty="0">
              <a:latin typeface="Arial Black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rial Black"/>
              </a:rPr>
              <a:t>Harshavarthan T 7224216</a:t>
            </a:r>
            <a:endParaRPr lang="en-US" sz="1300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rial Black"/>
              </a:rPr>
              <a:t>Ulas Arslan 7223322</a:t>
            </a:r>
            <a:endParaRPr lang="en-US" sz="2000" dirty="0"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rial Black"/>
              </a:rPr>
              <a:t>Adesh More 7224845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23070A-4887-9A68-23F9-5A7681E02253}"/>
              </a:ext>
            </a:extLst>
          </p:cNvPr>
          <p:cNvSpPr txBox="1"/>
          <p:nvPr/>
        </p:nvSpPr>
        <p:spPr>
          <a:xfrm>
            <a:off x="5587891" y="2961670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rial Black"/>
                <a:cs typeface="Arial"/>
              </a:rPr>
              <a:t>Team 5</a:t>
            </a:r>
          </a:p>
        </p:txBody>
      </p:sp>
    </p:spTree>
    <p:extLst>
      <p:ext uri="{BB962C8B-B14F-4D97-AF65-F5344CB8AC3E}">
        <p14:creationId xmlns:p14="http://schemas.microsoft.com/office/powerpoint/2010/main" val="2852098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BCFBCD-74F9-FBDE-73D9-4C3455ED6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8809" y="1459469"/>
            <a:ext cx="101543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81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47CEB-9BFF-208C-8354-4F0CB627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38224A-52AB-8524-D28E-F0D1E8EA6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42119"/>
            <a:ext cx="10515600" cy="277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8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F2A8CB-C87C-5E50-A634-A00434BAD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84207" y="1115817"/>
            <a:ext cx="46235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2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truck&#10;&#10;AI-generated content may be incorrect.">
            <a:extLst>
              <a:ext uri="{FF2B5EF4-FFF2-40B4-BE49-F238E27FC236}">
                <a16:creationId xmlns:a16="http://schemas.microsoft.com/office/drawing/2014/main" id="{1DB5A8E9-68EF-91E6-B6A9-20A824FB8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56943" y="1251515"/>
            <a:ext cx="85344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4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truck machine&#10;&#10;AI-generated content may be incorrect.">
            <a:extLst>
              <a:ext uri="{FF2B5EF4-FFF2-40B4-BE49-F238E27FC236}">
                <a16:creationId xmlns:a16="http://schemas.microsoft.com/office/drawing/2014/main" id="{D441AB01-802E-C1E0-6C16-4DEADCD1A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83421" y="1255902"/>
            <a:ext cx="63770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6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computer flowchart&#10;&#10;AI-generated content may be incorrect.">
            <a:extLst>
              <a:ext uri="{FF2B5EF4-FFF2-40B4-BE49-F238E27FC236}">
                <a16:creationId xmlns:a16="http://schemas.microsoft.com/office/drawing/2014/main" id="{720E906E-378F-455E-324A-37B59E5C6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3843" y="1105378"/>
            <a:ext cx="6741124" cy="466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1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ADC436-768E-CF15-35BE-7484B6CAC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51695" y="405878"/>
            <a:ext cx="5467788" cy="580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0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6484-CC55-2191-0F61-4F049C819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Communication Protocol</a:t>
            </a:r>
          </a:p>
        </p:txBody>
      </p:sp>
      <p:pic>
        <p:nvPicPr>
          <p:cNvPr id="7" name="Content Placeholder 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32E132D1-1D6C-8247-9EED-317A37E8C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39538" y="1709890"/>
            <a:ext cx="3368049" cy="4549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91C6E4-F7E1-DE15-739D-6B960729B832}"/>
              </a:ext>
            </a:extLst>
          </p:cNvPr>
          <p:cNvSpPr txBox="1"/>
          <p:nvPr/>
        </p:nvSpPr>
        <p:spPr>
          <a:xfrm>
            <a:off x="7273243" y="2484220"/>
            <a:ext cx="33674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TCP/IP Socket Programming</a:t>
            </a:r>
          </a:p>
        </p:txBody>
      </p:sp>
    </p:spTree>
    <p:extLst>
      <p:ext uri="{BB962C8B-B14F-4D97-AF65-F5344CB8AC3E}">
        <p14:creationId xmlns:p14="http://schemas.microsoft.com/office/powerpoint/2010/main" val="974048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CFFF1-ACC4-257A-8AD8-BBAD8CF3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Data/ Signal &amp; Events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676A5-F62F-EBDE-4AB7-4E8AAB9B49BE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hlinkClick r:id="rId2"/>
              </a:rPr>
              <a:t>Revision History:  DPS-TEAM5.docx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4" name="Content Placeholder 3" descr="A table of information&#10;&#10;AI-generated content may be incorrect.">
            <a:extLst>
              <a:ext uri="{FF2B5EF4-FFF2-40B4-BE49-F238E27FC236}">
                <a16:creationId xmlns:a16="http://schemas.microsoft.com/office/drawing/2014/main" id="{A24D8106-9742-8DBE-2D49-AE2A2DEA1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85816" y="1348438"/>
            <a:ext cx="6440424" cy="410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53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9EB10-A809-3812-260F-CC4092D9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400" b="1">
                <a:latin typeface="Aptos"/>
              </a:rPr>
              <a:t>Client‑Side Thread</a:t>
            </a:r>
            <a:endParaRPr lang="en-US" sz="3400">
              <a:latin typeface="Apto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326D0-FB28-6D41-944F-B70FB1466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Main Thread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Manages client lifecycle (startup, shutdown).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Command Thread (cmd_thread)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Processes user inputs from the terminal.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Transmitter Thread (TX)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Sends data requests to the server.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Receiver Thread (RX)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Continuously listens for incoming data (speed, distance, control messages).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Outcome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All tasks run concurrently without blocking each other.</a:t>
            </a: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E88FA-6F32-EA89-238B-51C325FFA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106922"/>
            <a:ext cx="6440424" cy="458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78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6B5F-47EE-4383-5923-24BC6D32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865"/>
            <a:ext cx="10515600" cy="1325563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sz="2800" b="1">
                <a:latin typeface="Aptos"/>
              </a:rPr>
              <a:t>Server‑Side Thread</a:t>
            </a:r>
            <a:endParaRPr lang="en-US" sz="28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1D74F-5AEF-2225-7EE8-ECD4490A5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132" y="1710803"/>
            <a:ext cx="10515600" cy="39898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Posix thread – P thread</a:t>
            </a:r>
          </a:p>
          <a:p>
            <a:r>
              <a:rPr lang="en-US" sz="2000">
                <a:ea typeface="+mn-lt"/>
                <a:cs typeface="+mn-lt"/>
              </a:rPr>
              <a:t>Supports up to </a:t>
            </a:r>
            <a:r>
              <a:rPr lang="en-US" sz="2000" b="1">
                <a:ea typeface="+mn-lt"/>
                <a:cs typeface="+mn-lt"/>
              </a:rPr>
              <a:t>7 simultaneous clients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For each connected client:</a:t>
            </a:r>
            <a:endParaRPr lang="en-US" sz="2000"/>
          </a:p>
          <a:p>
            <a:pPr lvl="1"/>
            <a:r>
              <a:rPr lang="en-US" sz="2000" b="1">
                <a:ea typeface="+mn-lt"/>
                <a:cs typeface="+mn-lt"/>
              </a:rPr>
              <a:t>TX Thread</a:t>
            </a:r>
            <a:r>
              <a:rPr lang="en-US" sz="2000">
                <a:ea typeface="+mn-lt"/>
                <a:cs typeface="+mn-lt"/>
              </a:rPr>
              <a:t> → sends data to that client.</a:t>
            </a:r>
            <a:endParaRPr lang="en-US" sz="2000"/>
          </a:p>
          <a:p>
            <a:pPr lvl="1"/>
            <a:r>
              <a:rPr lang="en-US" sz="2000" b="1">
                <a:ea typeface="+mn-lt"/>
                <a:cs typeface="+mn-lt"/>
              </a:rPr>
              <a:t>RX Thread</a:t>
            </a:r>
            <a:r>
              <a:rPr lang="en-US" sz="2000">
                <a:ea typeface="+mn-lt"/>
                <a:cs typeface="+mn-lt"/>
              </a:rPr>
              <a:t> → receives data from that client.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Main Server Thread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Waits for new client connections.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Creates TX/RX thread pairs as clients join.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28430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7BC4-C6AA-9E0A-E440-9F5EE0840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clock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4787-431D-FE47-D4D3-E94CEDC29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>
                <a:ea typeface="+mn-lt"/>
                <a:cs typeface="+mn-lt"/>
              </a:rPr>
              <a:t>Why Logical Clocks Are Needed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Nodes generate events concurrently (state updates, control messages, emergencies).</a:t>
            </a:r>
          </a:p>
          <a:p>
            <a:r>
              <a:rPr lang="en-US" sz="2000">
                <a:ea typeface="+mn-lt"/>
                <a:cs typeface="+mn-lt"/>
              </a:rPr>
              <a:t>Uses an n\times n matrix, where n is the maximum number of active devices.</a:t>
            </a:r>
          </a:p>
          <a:p>
            <a:r>
              <a:rPr lang="en-US" sz="2000">
                <a:ea typeface="+mn-lt"/>
                <a:cs typeface="+mn-lt"/>
              </a:rPr>
              <a:t>Each node is assigned a </a:t>
            </a:r>
            <a:r>
              <a:rPr lang="en-US" sz="2000" b="1">
                <a:ea typeface="+mn-lt"/>
                <a:cs typeface="+mn-lt"/>
              </a:rPr>
              <a:t>unique index</a:t>
            </a:r>
            <a:r>
              <a:rPr lang="en-US" sz="2000">
                <a:ea typeface="+mn-lt"/>
                <a:cs typeface="+mn-lt"/>
              </a:rPr>
              <a:t> (server = 1, clients assigned dynamically).</a:t>
            </a:r>
          </a:p>
          <a:p>
            <a:r>
              <a:rPr lang="en-US" sz="2000">
                <a:ea typeface="+mn-lt"/>
                <a:cs typeface="+mn-lt"/>
              </a:rPr>
              <a:t>Every node maintains its own matrix, storing: its </a:t>
            </a:r>
            <a:r>
              <a:rPr lang="en-US" sz="2000" b="1">
                <a:ea typeface="+mn-lt"/>
                <a:cs typeface="+mn-lt"/>
              </a:rPr>
              <a:t>local event history</a:t>
            </a:r>
            <a:r>
              <a:rPr lang="en-US" sz="2000">
                <a:ea typeface="+mn-lt"/>
                <a:cs typeface="+mn-lt"/>
              </a:rPr>
              <a:t>, and its </a:t>
            </a:r>
            <a:r>
              <a:rPr lang="en-US" sz="2000" b="1">
                <a:ea typeface="+mn-lt"/>
                <a:cs typeface="+mn-lt"/>
              </a:rPr>
              <a:t>knowledge of other node events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58196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42C5-4008-FA2B-16AA-A92AFE1B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4926-563A-FFFD-B7AF-E80E662E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/>
          <a:lstStyle/>
          <a:p>
            <a:r>
              <a:rPr lang="en-US"/>
              <a:t>Logical clock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7D7FB-52E4-97EF-C6F1-8ECD7FC66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472" y="1039240"/>
            <a:ext cx="10515600" cy="56633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Event Generation</a:t>
            </a:r>
            <a:endParaRPr lang="en-US" sz="2000" b="1"/>
          </a:p>
          <a:p>
            <a:r>
              <a:rPr lang="en-US" sz="2000">
                <a:ea typeface="+mn-lt"/>
                <a:cs typeface="+mn-lt"/>
              </a:rPr>
              <a:t>When a node performs an action (message creation, speed update, control response):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It increments the </a:t>
            </a:r>
            <a:r>
              <a:rPr lang="en-US" sz="2000" b="1">
                <a:ea typeface="+mn-lt"/>
                <a:cs typeface="+mn-lt"/>
              </a:rPr>
              <a:t>diagonal entry</a:t>
            </a:r>
            <a:r>
              <a:rPr lang="en-US" sz="2000">
                <a:ea typeface="+mn-lt"/>
                <a:cs typeface="+mn-lt"/>
              </a:rPr>
              <a:t> of its own index.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This marks the occurrence of a new local event.</a:t>
            </a:r>
            <a:endParaRPr lang="en-US" sz="2000"/>
          </a:p>
          <a:p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Message Transmission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Before sending a message: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The entire logical clock matrix is </a:t>
            </a:r>
            <a:r>
              <a:rPr lang="en-US" sz="2000" b="1">
                <a:ea typeface="+mn-lt"/>
                <a:cs typeface="+mn-lt"/>
              </a:rPr>
              <a:t>serialized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The matrix is appended to the outgoing payload.</a:t>
            </a:r>
            <a:endParaRPr lang="en-US" sz="2000"/>
          </a:p>
          <a:p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Message Reception &amp; Merge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Receiver </a:t>
            </a:r>
            <a:r>
              <a:rPr lang="en-US" sz="2000" b="1">
                <a:ea typeface="+mn-lt"/>
                <a:cs typeface="+mn-lt"/>
              </a:rPr>
              <a:t>deserializes</a:t>
            </a:r>
            <a:r>
              <a:rPr lang="en-US" sz="2000">
                <a:ea typeface="+mn-lt"/>
                <a:cs typeface="+mn-lt"/>
              </a:rPr>
              <a:t> the matrix.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Performs an </a:t>
            </a:r>
            <a:r>
              <a:rPr lang="en-US" sz="2000" b="1">
                <a:ea typeface="+mn-lt"/>
                <a:cs typeface="+mn-lt"/>
              </a:rPr>
              <a:t>element‑wise merge</a:t>
            </a:r>
            <a:r>
              <a:rPr lang="en-US" sz="2000">
                <a:ea typeface="+mn-lt"/>
                <a:cs typeface="+mn-lt"/>
              </a:rPr>
              <a:t> with its own matrix.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Ensures the receiver holds the </a:t>
            </a:r>
            <a:r>
              <a:rPr lang="en-US" sz="2000" b="1">
                <a:ea typeface="+mn-lt"/>
                <a:cs typeface="+mn-lt"/>
              </a:rPr>
              <a:t>most recent and causally consistent</a:t>
            </a:r>
            <a:r>
              <a:rPr lang="en-US" sz="2000">
                <a:ea typeface="+mn-lt"/>
                <a:cs typeface="+mn-lt"/>
              </a:rPr>
              <a:t> event history.</a:t>
            </a:r>
            <a:endParaRPr lang="en-US" sz="2000"/>
          </a:p>
          <a:p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517348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466D-AF96-85EA-B33A-7A5228DD3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939" y="144255"/>
            <a:ext cx="10515600" cy="1325563"/>
          </a:xfrm>
        </p:spPr>
        <p:txBody>
          <a:bodyPr/>
          <a:lstStyle/>
          <a:p>
            <a:r>
              <a:rPr lang="en-US" sz="2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Data Frame Structure &amp; Event Types</a:t>
            </a: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6" name="Content Placeholder 5" descr="A black and blu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C2B666DB-0605-094E-F361-2E94BAA65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7156" y="1278813"/>
            <a:ext cx="7886700" cy="3943350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2771E14-E892-41E1-6E81-F6FE8AC32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835" y="1466366"/>
            <a:ext cx="3405809" cy="325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6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F892B-3CD3-F5AF-7937-573044BB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Parsing in TX and RX Threads</a:t>
            </a:r>
            <a:endParaRPr lang="en-US" sz="2800"/>
          </a:p>
          <a:p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0C983-B2F3-9904-AA4E-589C483EA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641" y="136618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385D8A"/>
                </a:solidFill>
                <a:latin typeface="Calibri"/>
                <a:ea typeface="Calibri"/>
                <a:cs typeface="Calibri"/>
              </a:rPr>
              <a:t>TX thread:</a:t>
            </a:r>
            <a:br>
              <a:rPr lang="en-US" sz="2400" b="1">
                <a:latin typeface="Calibri"/>
                <a:ea typeface="Calibri"/>
                <a:cs typeface="Calibri"/>
              </a:rPr>
            </a:br>
            <a:r>
              <a:rPr lang="en-US" sz="2400" b="1">
                <a:solidFill>
                  <a:srgbClr val="385D8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</a:rPr>
              <a:t> • Adjust speed and distance with </a:t>
            </a:r>
            <a:r>
              <a:rPr lang="en-US" sz="2400" err="1">
                <a:latin typeface="Calibri"/>
                <a:ea typeface="Calibri"/>
                <a:cs typeface="Calibri"/>
              </a:rPr>
              <a:t>matchSpeed</a:t>
            </a:r>
            <a:r>
              <a:rPr lang="en-US" sz="2400">
                <a:latin typeface="Calibri"/>
                <a:ea typeface="Calibri"/>
                <a:cs typeface="Calibri"/>
              </a:rPr>
              <a:t>(), </a:t>
            </a:r>
            <a:r>
              <a:rPr lang="en-US" sz="2400" err="1">
                <a:latin typeface="Calibri"/>
                <a:ea typeface="Calibri"/>
                <a:cs typeface="Calibri"/>
              </a:rPr>
              <a:t>matchDistance</a:t>
            </a:r>
            <a:r>
              <a:rPr lang="en-US" sz="2400">
                <a:latin typeface="Calibri"/>
                <a:ea typeface="Calibri"/>
                <a:cs typeface="Calibri"/>
              </a:rPr>
              <a:t>()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  • Construct message with </a:t>
            </a:r>
            <a:r>
              <a:rPr lang="en-US" sz="2400" err="1">
                <a:latin typeface="Calibri"/>
                <a:ea typeface="Calibri"/>
                <a:cs typeface="Calibri"/>
              </a:rPr>
              <a:t>constructMessage</a:t>
            </a:r>
            <a:r>
              <a:rPr lang="en-US" sz="2400">
                <a:latin typeface="Calibri"/>
                <a:ea typeface="Calibri"/>
                <a:cs typeface="Calibri"/>
              </a:rPr>
              <a:t>()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  • Append MATRIX string and send over socket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 b="1">
                <a:solidFill>
                  <a:schemeClr val="accent4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RX thread:</a:t>
            </a:r>
            <a:br>
              <a:rPr lang="en-US" sz="2400" b="1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  • Receive raw string and parse with </a:t>
            </a:r>
            <a:r>
              <a:rPr lang="en-US" sz="2400" err="1">
                <a:latin typeface="Calibri"/>
                <a:ea typeface="Calibri"/>
                <a:cs typeface="Calibri"/>
              </a:rPr>
              <a:t>parseMessage</a:t>
            </a:r>
            <a:r>
              <a:rPr lang="en-US" sz="2400">
                <a:latin typeface="Calibri"/>
                <a:ea typeface="Calibri"/>
                <a:cs typeface="Calibri"/>
              </a:rPr>
              <a:t>()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  • Update </a:t>
            </a:r>
            <a:r>
              <a:rPr lang="en-US" sz="2400" err="1">
                <a:latin typeface="Calibri"/>
                <a:ea typeface="Calibri"/>
                <a:cs typeface="Calibri"/>
              </a:rPr>
              <a:t>g_targetSpeed</a:t>
            </a:r>
            <a:r>
              <a:rPr lang="en-US" sz="2400">
                <a:latin typeface="Calibri"/>
                <a:ea typeface="Calibri"/>
                <a:cs typeface="Calibri"/>
              </a:rPr>
              <a:t> or </a:t>
            </a:r>
            <a:r>
              <a:rPr lang="en-US" sz="2400" err="1">
                <a:latin typeface="Calibri"/>
                <a:ea typeface="Calibri"/>
                <a:cs typeface="Calibri"/>
              </a:rPr>
              <a:t>g_targetDistance</a:t>
            </a:r>
            <a:r>
              <a:rPr lang="en-US" sz="2400">
                <a:latin typeface="Calibri"/>
                <a:ea typeface="Calibri"/>
                <a:cs typeface="Calibri"/>
              </a:rPr>
              <a:t> on SPEED/DISTANCE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  • Handle INTRUSION or EMERGENCY_BRAKE and merge matrix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  • Reset matrix row/column when a client leaves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 </a:t>
            </a:r>
          </a:p>
          <a:p>
            <a:endParaRPr lang="en-US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8570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7A30-3835-963E-0861-9835C3B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CPU vs GPU Tasks</a:t>
            </a:r>
            <a:endParaRPr lang="en-US"/>
          </a:p>
          <a:p>
            <a:endParaRPr lang="en-US"/>
          </a:p>
        </p:txBody>
      </p:sp>
      <p:pic>
        <p:nvPicPr>
          <p:cNvPr id="4" name="Content Placeholder 3" descr="A screen shot of a black and white screen&#10;&#10;AI-generated content may be incorrect.">
            <a:extLst>
              <a:ext uri="{FF2B5EF4-FFF2-40B4-BE49-F238E27FC236}">
                <a16:creationId xmlns:a16="http://schemas.microsoft.com/office/drawing/2014/main" id="{EE550BE5-FAFF-4138-04F8-2E4694579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809" y="1716406"/>
            <a:ext cx="10515600" cy="2471516"/>
          </a:xfrm>
          <a:prstGeom prst="rect">
            <a:avLst/>
          </a:prstGeom>
        </p:spPr>
      </p:pic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A438FC3-6623-C5B1-F84C-70540A564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36" y="4190655"/>
            <a:ext cx="9286875" cy="2143125"/>
          </a:xfrm>
          <a:prstGeom prst="rect">
            <a:avLst/>
          </a:prstGeom>
        </p:spPr>
      </p:pic>
      <p:pic>
        <p:nvPicPr>
          <p:cNvPr id="6" name="Picture 5" descr="A computer chip with orange lights&#10;&#10;AI-generated content may be incorrect.">
            <a:extLst>
              <a:ext uri="{FF2B5EF4-FFF2-40B4-BE49-F238E27FC236}">
                <a16:creationId xmlns:a16="http://schemas.microsoft.com/office/drawing/2014/main" id="{75EBB2EE-DFE7-8383-7127-79E9AA2AA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764" y="4345264"/>
            <a:ext cx="3286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70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242F5-9B2A-A89A-E369-ED7953D1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Parallel Programming Models</a:t>
            </a:r>
            <a:endParaRPr lang="en-US"/>
          </a:p>
          <a:p>
            <a:endParaRPr lang="en-US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A5ADA7-486F-7470-288B-D30F49396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06131"/>
            <a:ext cx="10515600" cy="309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62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0434-917A-E801-B118-99A3A37D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Matrix Clock Concept</a:t>
            </a:r>
            <a:endParaRPr lang="en-US"/>
          </a:p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10497F-8521-7B6E-7ACE-72BA54483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587" y="1254125"/>
            <a:ext cx="6103743" cy="3754991"/>
          </a:xfrm>
          <a:prstGeom prst="rect">
            <a:avLst/>
          </a:prstGeom>
        </p:spPr>
      </p:pic>
      <p:pic>
        <p:nvPicPr>
          <p:cNvPr id="7" name="Picture 6" descr="A screenshot of a grid&#10;&#10;AI-generated content may be incorrect.">
            <a:extLst>
              <a:ext uri="{FF2B5EF4-FFF2-40B4-BE49-F238E27FC236}">
                <a16:creationId xmlns:a16="http://schemas.microsoft.com/office/drawing/2014/main" id="{868BA8DE-67C8-8F03-92CD-35B1C1DD9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799" y="1257093"/>
            <a:ext cx="46005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5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ACA9-4F8C-9C09-211B-0B2E08FF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GPU Matrix Clock Implementation</a:t>
            </a:r>
            <a:endParaRPr lang="en-US"/>
          </a:p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C5D7BE-66A8-788F-0105-F8B9E85FE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693" y="637094"/>
            <a:ext cx="6903831" cy="3756164"/>
          </a:xfrm>
          <a:prstGeom prst="rect">
            <a:avLst/>
          </a:prstGeom>
        </p:spPr>
      </p:pic>
      <p:pic>
        <p:nvPicPr>
          <p:cNvPr id="5" name="Picture 4" descr="A screenshot of a task&#10;&#10;AI-generated content may be incorrect.">
            <a:extLst>
              <a:ext uri="{FF2B5EF4-FFF2-40B4-BE49-F238E27FC236}">
                <a16:creationId xmlns:a16="http://schemas.microsoft.com/office/drawing/2014/main" id="{240C539C-9C24-39CF-4338-BBA5D0BF7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319" y="1687099"/>
            <a:ext cx="4290668" cy="23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1CC384-D663-EB6F-4818-EAA6F17EE715}"/>
              </a:ext>
            </a:extLst>
          </p:cNvPr>
          <p:cNvSpPr txBox="1"/>
          <p:nvPr/>
        </p:nvSpPr>
        <p:spPr>
          <a:xfrm>
            <a:off x="809625" y="3488531"/>
            <a:ext cx="639365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On the GPU, </a:t>
            </a:r>
            <a:r>
              <a:rPr lang="en-US" b="1">
                <a:ea typeface="+mn-lt"/>
                <a:cs typeface="+mn-lt"/>
              </a:rPr>
              <a:t>multiple kernels can execute in parallel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These kernels act like </a:t>
            </a:r>
            <a:r>
              <a:rPr lang="en-US" b="1">
                <a:ea typeface="+mn-lt"/>
                <a:cs typeface="+mn-lt"/>
              </a:rPr>
              <a:t>independent logical entities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30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9F89-3190-FADB-14CD-9685CC06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Simulation: Speed, Distance &amp; Clock</a:t>
            </a:r>
            <a:endParaRPr lang="en-US"/>
          </a:p>
          <a:p>
            <a:endParaRPr lang="en-US"/>
          </a:p>
        </p:txBody>
      </p:sp>
      <p:pic>
        <p:nvPicPr>
          <p:cNvPr id="4" name="Content Placeholder 3" descr="A black screen with white lines&#10;&#10;AI-generated content may be incorrect.">
            <a:extLst>
              <a:ext uri="{FF2B5EF4-FFF2-40B4-BE49-F238E27FC236}">
                <a16:creationId xmlns:a16="http://schemas.microsoft.com/office/drawing/2014/main" id="{F371EA5D-114C-F837-CE8E-A5784E8F5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111" y="1394929"/>
            <a:ext cx="7337256" cy="4351338"/>
          </a:xfrm>
          <a:prstGeom prst="rect">
            <a:avLst/>
          </a:pr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280503A-8E6D-4B58-AB9D-C5EC8EEFB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202" y="2259702"/>
            <a:ext cx="3569943" cy="262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72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B37C-40BA-7ADF-3F3C-A73A62C4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GPU Implementation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59A5E6-F80F-A5C8-F6A8-DBABDD9D4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559" y="1825625"/>
            <a:ext cx="77093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70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6845-5FCA-85BC-193F-A7B513B3E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793" y="185840"/>
            <a:ext cx="11464413" cy="1414360"/>
          </a:xfrm>
        </p:spPr>
        <p:txBody>
          <a:bodyPr>
            <a:noAutofit/>
          </a:bodyPr>
          <a:lstStyle/>
          <a:p>
            <a:r>
              <a:rPr lang="en-US"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Simulation and Safety Validation Using HC-SR04 and Embedded Control Logic</a:t>
            </a:r>
            <a:endParaRPr lang="en-IN" sz="4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BA531-9180-FFF4-24EC-8A484411F5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0D181-4499-7EC0-6040-A64BB383D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2" y="1594029"/>
            <a:ext cx="11641394" cy="507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294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75038-B6E0-7841-BB3D-DC85497035D7}"/>
              </a:ext>
            </a:extLst>
          </p:cNvPr>
          <p:cNvSpPr txBox="1"/>
          <p:nvPr/>
        </p:nvSpPr>
        <p:spPr>
          <a:xfrm>
            <a:off x="1366683" y="2305615"/>
            <a:ext cx="103140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 interpretation of distance sensor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 state transitions (SAFE → ALERT → DANGER → COLLISION)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Time-To-Collision (TTC) computation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visual feedback using LEDs and LCD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robustness against sensor noise and short-range 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C9F15-EBDB-2DC9-94F4-C995CA677BB9}"/>
              </a:ext>
            </a:extLst>
          </p:cNvPr>
          <p:cNvSpPr txBox="1"/>
          <p:nvPr/>
        </p:nvSpPr>
        <p:spPr>
          <a:xfrm>
            <a:off x="530942" y="778895"/>
            <a:ext cx="7964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simulation demonstrates:</a:t>
            </a:r>
          </a:p>
        </p:txBody>
      </p:sp>
    </p:spTree>
    <p:extLst>
      <p:ext uri="{BB962C8B-B14F-4D97-AF65-F5344CB8AC3E}">
        <p14:creationId xmlns:p14="http://schemas.microsoft.com/office/powerpoint/2010/main" val="3895861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1DD3DC-78EF-79E8-B7FA-9B98ADDA458A}"/>
              </a:ext>
            </a:extLst>
          </p:cNvPr>
          <p:cNvSpPr txBox="1"/>
          <p:nvPr/>
        </p:nvSpPr>
        <p:spPr>
          <a:xfrm>
            <a:off x="442453" y="266771"/>
            <a:ext cx="1136609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Safety Analysis Using Fault Tree Analysis (FTA) for a Truck Platooning System</a:t>
            </a:r>
            <a:endParaRPr lang="en-IN" sz="4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07571-02FE-3F4A-E766-6B37683CA304}"/>
              </a:ext>
            </a:extLst>
          </p:cNvPr>
          <p:cNvSpPr txBox="1"/>
          <p:nvPr/>
        </p:nvSpPr>
        <p:spPr>
          <a:xfrm>
            <a:off x="835742" y="211608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Components: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0096E-49EA-3649-15C7-26EFA8D38EE5}"/>
              </a:ext>
            </a:extLst>
          </p:cNvPr>
          <p:cNvSpPr txBox="1"/>
          <p:nvPr/>
        </p:nvSpPr>
        <p:spPr>
          <a:xfrm>
            <a:off x="1592824" y="3051032"/>
            <a:ext cx="99994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HC-SR04 Ultrasonic Sensor – Measures distance to leading vehicle/obstacle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Embedded Controller (Arduino UNO) – Executes control and safety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Hazard Push Button – Manual emergency override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Indicators – Visual status (SAFE / ALERT / DANGER / COLLISION)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I2C LCD (16×2) – Displays speed, distance, TTC, and system state</a:t>
            </a:r>
          </a:p>
        </p:txBody>
      </p:sp>
    </p:spTree>
    <p:extLst>
      <p:ext uri="{BB962C8B-B14F-4D97-AF65-F5344CB8AC3E}">
        <p14:creationId xmlns:p14="http://schemas.microsoft.com/office/powerpoint/2010/main" val="3742991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557A5F-3D47-F6F1-DE62-456A55BCE912}"/>
              </a:ext>
            </a:extLst>
          </p:cNvPr>
          <p:cNvSpPr txBox="1"/>
          <p:nvPr/>
        </p:nvSpPr>
        <p:spPr>
          <a:xfrm>
            <a:off x="2359743" y="336443"/>
            <a:ext cx="8603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of Fault Tree Analysis</a:t>
            </a:r>
            <a:endParaRPr lang="en-IN" sz="4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839D8-643C-798D-8EB4-8B06839D661A}"/>
              </a:ext>
            </a:extLst>
          </p:cNvPr>
          <p:cNvSpPr txBox="1"/>
          <p:nvPr/>
        </p:nvSpPr>
        <p:spPr>
          <a:xfrm>
            <a:off x="2608933" y="2251686"/>
            <a:ext cx="81165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hazards that can lead to unsafe operation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Decompose hazards into basic failure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probabilities to failure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overall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mitigation strategies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944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7C46B0-55AF-111D-ED4B-E0E7017AE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89" y="0"/>
            <a:ext cx="5663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98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D189AC-FB6C-3CAA-4158-A30FD267FAD7}"/>
              </a:ext>
            </a:extLst>
          </p:cNvPr>
          <p:cNvSpPr txBox="1"/>
          <p:nvPr/>
        </p:nvSpPr>
        <p:spPr>
          <a:xfrm>
            <a:off x="1764083" y="1915438"/>
            <a:ext cx="9321451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4800" b="1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Hazard 1 : Collision due to missed or late danger detection</a:t>
            </a:r>
          </a:p>
          <a:p>
            <a:pPr marL="285750" lvl="0" indent="-285750"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Hazard 2 : False SAFE indication when distance is unsafe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0E5A8-46CC-1B48-E445-CFDCA7B42F6E}"/>
              </a:ext>
            </a:extLst>
          </p:cNvPr>
          <p:cNvSpPr txBox="1"/>
          <p:nvPr/>
        </p:nvSpPr>
        <p:spPr>
          <a:xfrm>
            <a:off x="334027" y="120041"/>
            <a:ext cx="6096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baseline="0">
                <a:latin typeface="Calibri"/>
                <a:ea typeface="Calibri"/>
                <a:cs typeface="Calibri"/>
              </a:rPr>
              <a:t>Hazard</a:t>
            </a:r>
            <a:r>
              <a:rPr lang="en-US" sz="4400" b="1" baseline="0">
                <a:latin typeface="Aptos"/>
              </a:rPr>
              <a:t> </a:t>
            </a:r>
            <a:r>
              <a:rPr lang="en-US" sz="4800" b="1" baseline="0">
                <a:latin typeface="Aptos"/>
              </a:rPr>
              <a:t>Identification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29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B8B152-A606-3520-9928-06D0C915C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571958"/>
              </p:ext>
            </p:extLst>
          </p:nvPr>
        </p:nvGraphicFramePr>
        <p:xfrm>
          <a:off x="647178" y="1388301"/>
          <a:ext cx="11056851" cy="39688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85617">
                  <a:extLst>
                    <a:ext uri="{9D8B030D-6E8A-4147-A177-3AD203B41FA5}">
                      <a16:colId xmlns:a16="http://schemas.microsoft.com/office/drawing/2014/main" val="2661224776"/>
                    </a:ext>
                  </a:extLst>
                </a:gridCol>
                <a:gridCol w="3685617">
                  <a:extLst>
                    <a:ext uri="{9D8B030D-6E8A-4147-A177-3AD203B41FA5}">
                      <a16:colId xmlns:a16="http://schemas.microsoft.com/office/drawing/2014/main" val="4117250569"/>
                    </a:ext>
                  </a:extLst>
                </a:gridCol>
                <a:gridCol w="3685617">
                  <a:extLst>
                    <a:ext uri="{9D8B030D-6E8A-4147-A177-3AD203B41FA5}">
                      <a16:colId xmlns:a16="http://schemas.microsoft.com/office/drawing/2014/main" val="1625884952"/>
                    </a:ext>
                  </a:extLst>
                </a:gridCol>
              </a:tblGrid>
              <a:tr h="992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Basic Event</a:t>
                      </a:r>
                      <a:endParaRPr lang="en-US" b="1">
                        <a:effectLst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  <a:endParaRPr lang="en-US" b="1">
                        <a:effectLst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Probability</a:t>
                      </a:r>
                      <a:endParaRPr lang="en-US" b="1">
                        <a:effectLst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365739"/>
                  </a:ext>
                </a:extLst>
              </a:tr>
              <a:tr h="992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           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HC-SR04 sensor malfunction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0.020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10614995"/>
                  </a:ext>
                </a:extLst>
              </a:tr>
              <a:tr h="992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           2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Software timing / loop delay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0.015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4176364"/>
                  </a:ext>
                </a:extLst>
              </a:tr>
              <a:tr h="992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           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Threshold logic misconfiguration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0.010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45604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39D4B6-FC6A-5078-FE36-0278A1CFB23B}"/>
              </a:ext>
            </a:extLst>
          </p:cNvPr>
          <p:cNvSpPr txBox="1"/>
          <p:nvPr/>
        </p:nvSpPr>
        <p:spPr>
          <a:xfrm>
            <a:off x="544428" y="349203"/>
            <a:ext cx="1126089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800" b="1">
                <a:latin typeface="Calibri"/>
                <a:ea typeface="Calibri"/>
                <a:cs typeface="Calibri"/>
              </a:rPr>
              <a:t>Hazard 1 : Collision due to missed or late danger detection : Events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90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843310-E646-C403-EE54-D4E7880ED566}"/>
              </a:ext>
            </a:extLst>
          </p:cNvPr>
          <p:cNvSpPr txBox="1"/>
          <p:nvPr/>
        </p:nvSpPr>
        <p:spPr>
          <a:xfrm>
            <a:off x="835068" y="339247"/>
            <a:ext cx="10521863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Hazard 1 : Collision due to missed or late danger detection :</a:t>
            </a:r>
            <a:r>
              <a:rPr lang="en-US" sz="12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Handling</a:t>
            </a:r>
            <a:endParaRPr lang="en-US" sz="2400" b="1">
              <a:latin typeface="Calibri"/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54CDB-698C-BB78-4176-B828A4FEA468}"/>
              </a:ext>
            </a:extLst>
          </p:cNvPr>
          <p:cNvSpPr txBox="1"/>
          <p:nvPr/>
        </p:nvSpPr>
        <p:spPr>
          <a:xfrm>
            <a:off x="1826713" y="1899398"/>
            <a:ext cx="1011476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"/>
                <a:ea typeface="Calibri"/>
                <a:cs typeface="Calibri"/>
              </a:rPr>
              <a:t>Design-Level Mitigations</a:t>
            </a:r>
          </a:p>
          <a:p>
            <a:pPr>
              <a:buFont typeface=""/>
              <a:buChar char="•"/>
            </a:pPr>
            <a:r>
              <a:rPr lang="en-US" sz="2400">
                <a:latin typeface="Aptos"/>
                <a:ea typeface="Calibri"/>
                <a:cs typeface="Calibri"/>
              </a:rPr>
              <a:t> Fail-safe design: Invalid or stale sensor data forces ALERT/DANGER</a:t>
            </a:r>
          </a:p>
          <a:p>
            <a:pPr>
              <a:buFont typeface=""/>
              <a:buChar char="•"/>
            </a:pPr>
            <a:r>
              <a:rPr lang="en-US" sz="2400">
                <a:latin typeface="Aptos"/>
                <a:ea typeface="Calibri"/>
                <a:cs typeface="Calibri"/>
              </a:rPr>
              <a:t> Thresholds chosen according to sensor physical range</a:t>
            </a:r>
          </a:p>
          <a:p>
            <a:pPr>
              <a:buFont typeface=""/>
              <a:buChar char="•"/>
            </a:pPr>
            <a:r>
              <a:rPr lang="en-US" sz="2400">
                <a:latin typeface="Aptos"/>
                <a:ea typeface="Calibri"/>
                <a:cs typeface="Calibri"/>
              </a:rPr>
              <a:t> Safety priority: collision &gt; danger &gt; alert &gt; safe</a:t>
            </a:r>
          </a:p>
          <a:p>
            <a:r>
              <a:rPr lang="en-US" sz="2400" b="1">
                <a:latin typeface="Aptos"/>
                <a:ea typeface="Calibri"/>
                <a:cs typeface="Calibri"/>
              </a:rPr>
              <a:t>Implementation-Level Mitigations</a:t>
            </a:r>
          </a:p>
          <a:p>
            <a:pPr>
              <a:buFont typeface=""/>
              <a:buChar char="•"/>
            </a:pPr>
            <a:r>
              <a:rPr lang="en-US" sz="2400">
                <a:latin typeface="Aptos"/>
                <a:ea typeface="Calibri"/>
                <a:cs typeface="Calibri"/>
              </a:rPr>
              <a:t> Echo timeout to prevent blocking</a:t>
            </a:r>
          </a:p>
          <a:p>
            <a:pPr>
              <a:buFont typeface=""/>
              <a:buChar char="•"/>
            </a:pPr>
            <a:r>
              <a:rPr lang="en-US" sz="2400">
                <a:latin typeface="Aptos"/>
                <a:ea typeface="Calibri"/>
                <a:cs typeface="Calibri"/>
              </a:rPr>
              <a:t> Distance update freshness monitoring (NO UPDT)</a:t>
            </a:r>
          </a:p>
          <a:p>
            <a:pPr>
              <a:buFont typeface=""/>
              <a:buChar char="•"/>
            </a:pPr>
            <a:r>
              <a:rPr lang="en-US" sz="2400">
                <a:latin typeface="Aptos"/>
                <a:ea typeface="Calibri"/>
                <a:cs typeface="Calibri"/>
              </a:rPr>
              <a:t> Exponential Moving Average (EMA) filtering</a:t>
            </a:r>
          </a:p>
          <a:p>
            <a:endParaRPr lang="en-US" sz="2400"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8552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0A6DA9-18E1-812D-648C-44BA61405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943042"/>
              </p:ext>
            </p:extLst>
          </p:nvPr>
        </p:nvGraphicFramePr>
        <p:xfrm>
          <a:off x="1096027" y="1983287"/>
          <a:ext cx="10131927" cy="39757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77309">
                  <a:extLst>
                    <a:ext uri="{9D8B030D-6E8A-4147-A177-3AD203B41FA5}">
                      <a16:colId xmlns:a16="http://schemas.microsoft.com/office/drawing/2014/main" val="759423133"/>
                    </a:ext>
                  </a:extLst>
                </a:gridCol>
                <a:gridCol w="3377309">
                  <a:extLst>
                    <a:ext uri="{9D8B030D-6E8A-4147-A177-3AD203B41FA5}">
                      <a16:colId xmlns:a16="http://schemas.microsoft.com/office/drawing/2014/main" val="14546747"/>
                    </a:ext>
                  </a:extLst>
                </a:gridCol>
                <a:gridCol w="3377309">
                  <a:extLst>
                    <a:ext uri="{9D8B030D-6E8A-4147-A177-3AD203B41FA5}">
                      <a16:colId xmlns:a16="http://schemas.microsoft.com/office/drawing/2014/main" val="2363988428"/>
                    </a:ext>
                  </a:extLst>
                </a:gridCol>
              </a:tblGrid>
              <a:tr h="981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Basic Event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Probability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801855"/>
                  </a:ext>
                </a:extLst>
              </a:tr>
              <a:tr h="997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                  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Sensor noise / reflection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0.012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185646"/>
                  </a:ext>
                </a:extLst>
              </a:tr>
              <a:tr h="997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                  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Filter response too slow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0.010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1568770"/>
                  </a:ext>
                </a:extLst>
              </a:tr>
              <a:tr h="997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                  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Output mapping/software bug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0.005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725991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14DC78D-C763-3D2D-F329-95CCBC7FD9A2}"/>
              </a:ext>
            </a:extLst>
          </p:cNvPr>
          <p:cNvSpPr txBox="1"/>
          <p:nvPr/>
        </p:nvSpPr>
        <p:spPr>
          <a:xfrm>
            <a:off x="741123" y="485384"/>
            <a:ext cx="1042791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800" b="1" baseline="0">
                <a:latin typeface="Calibri"/>
                <a:ea typeface="Arial"/>
                <a:cs typeface="Arial"/>
              </a:rPr>
              <a:t>Hazard 2 : False SAFE indication when distance is unsafe</a:t>
            </a:r>
            <a:r>
              <a:rPr lang="en-US" sz="2800">
                <a:latin typeface="Calibri"/>
                <a:ea typeface="Arial"/>
                <a:cs typeface="Arial"/>
              </a:rPr>
              <a:t>​: </a:t>
            </a:r>
            <a:r>
              <a:rPr lang="en-US" sz="2800" b="1">
                <a:latin typeface="Calibri"/>
                <a:ea typeface="Arial"/>
                <a:cs typeface="Arial"/>
              </a:rPr>
              <a:t>Events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50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EDE6AB-14B6-9865-F7FD-E11631251C31}"/>
              </a:ext>
            </a:extLst>
          </p:cNvPr>
          <p:cNvSpPr txBox="1"/>
          <p:nvPr/>
        </p:nvSpPr>
        <p:spPr>
          <a:xfrm>
            <a:off x="1137781" y="370562"/>
            <a:ext cx="1105421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baseline="0">
                <a:latin typeface="Calibri"/>
              </a:rPr>
              <a:t>Hazard 2 : False SAFE indication when distance is unsafe</a:t>
            </a:r>
            <a:r>
              <a:rPr lang="en-US" sz="2800" b="1">
                <a:latin typeface="Calibri"/>
              </a:rPr>
              <a:t>:</a:t>
            </a:r>
            <a:r>
              <a:rPr lang="en-US" sz="2800" b="1">
                <a:latin typeface="Calibri"/>
                <a:ea typeface="Calibri"/>
                <a:cs typeface="Calibri"/>
              </a:rPr>
              <a:t> Handling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770DA-41D3-F1C0-35F7-E0E2E9ACCB32}"/>
              </a:ext>
            </a:extLst>
          </p:cNvPr>
          <p:cNvSpPr txBox="1"/>
          <p:nvPr/>
        </p:nvSpPr>
        <p:spPr>
          <a:xfrm>
            <a:off x="1837150" y="1538980"/>
            <a:ext cx="997906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</a:rPr>
              <a:t>Design-Level Mitigations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rgbClr val="000000"/>
                </a:solidFill>
              </a:rPr>
              <a:t> SAFE state only allowed after stable distance for multiple cycles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rgbClr val="000000"/>
                </a:solidFill>
              </a:rPr>
              <a:t> Conservative logic: uncertainty → ALERT/DANGER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rgbClr val="000000"/>
                </a:solidFill>
              </a:rPr>
              <a:t> Clear operator feedback (NO SENSOR / NO UPDATE)</a:t>
            </a:r>
          </a:p>
          <a:p>
            <a:r>
              <a:rPr lang="en-US" sz="2400" b="1">
                <a:solidFill>
                  <a:srgbClr val="000000"/>
                </a:solidFill>
              </a:rPr>
              <a:t>Implementation-Level Mitigations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rgbClr val="000000"/>
                </a:solidFill>
              </a:rPr>
              <a:t> Validation of raw and filtered distance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rgbClr val="000000"/>
                </a:solidFill>
              </a:rPr>
              <a:t> Exclusive LED activation (only one LED on at a time)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rgbClr val="000000"/>
                </a:solidFill>
              </a:rPr>
              <a:t> Debug logging for verification</a:t>
            </a:r>
          </a:p>
          <a:p>
            <a:pPr>
              <a:buFont typeface=""/>
              <a:buChar char="•"/>
            </a:pPr>
            <a:r>
              <a:rPr lang="en-US" sz="2400">
                <a:solidFill>
                  <a:srgbClr val="000000"/>
                </a:solidFill>
              </a:rPr>
              <a:t> Plausibility checks between speed and distance</a:t>
            </a:r>
          </a:p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215270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D8C9-8067-7489-6FD2-9357A93A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D1396-06E9-3A83-DC45-C1D46FCA9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369" y="190479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Why Scheduling Is Important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Safety-critical real-time system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Multiple periodic tasks running concurrently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Deadlines must always be met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Late execution may cause unsafe behavior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91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4CD8F-0DD4-D7EF-A03D-1FD53B803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255" y="125151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RMS (Rate Monotonic Scheduling)</a:t>
            </a:r>
          </a:p>
          <a:p>
            <a:pPr lvl="1"/>
            <a:r>
              <a:rPr lang="en-US">
                <a:ea typeface="+mn-lt"/>
                <a:cs typeface="+mn-lt"/>
              </a:rPr>
              <a:t>Fixed priority scheduling algorithm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Short-term has high priority</a:t>
            </a:r>
            <a:endParaRPr lang="en-US"/>
          </a:p>
          <a:p>
            <a:pPr lvl="1"/>
            <a:r>
              <a:rPr lang="en-US"/>
              <a:t>U &lt; </a:t>
            </a:r>
            <a:r>
              <a:rPr lang="en-US" err="1"/>
              <a:t>U_bound</a:t>
            </a:r>
            <a:r>
              <a:rPr lang="en-US"/>
              <a:t>, (derived from formula)</a:t>
            </a:r>
          </a:p>
          <a:p>
            <a:r>
              <a:rPr lang="en-US"/>
              <a:t>EDF (Earliest Deadline First)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Dynamic priority scheduling algorithm</a:t>
            </a:r>
          </a:p>
          <a:p>
            <a:pPr lvl="1"/>
            <a:r>
              <a:rPr lang="en-US">
                <a:ea typeface="+mn-lt"/>
                <a:cs typeface="+mn-lt"/>
              </a:rPr>
              <a:t>The nearest deadline has the highest priority.</a:t>
            </a:r>
          </a:p>
          <a:p>
            <a:pPr lvl="1"/>
            <a:r>
              <a:rPr lang="en-US">
                <a:ea typeface="+mn-lt"/>
                <a:cs typeface="+mn-lt"/>
              </a:rPr>
              <a:t>Flexible but more complex</a:t>
            </a:r>
          </a:p>
          <a:p>
            <a:pPr lvl="1"/>
            <a:r>
              <a:rPr lang="en-US"/>
              <a:t>U &lt; 1</a:t>
            </a:r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17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8BB13C-BD0E-F064-4643-CBB93DFDC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1938219"/>
              </p:ext>
            </p:extLst>
          </p:nvPr>
        </p:nvGraphicFramePr>
        <p:xfrm>
          <a:off x="442632" y="771805"/>
          <a:ext cx="11306028" cy="231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4338">
                  <a:extLst>
                    <a:ext uri="{9D8B030D-6E8A-4147-A177-3AD203B41FA5}">
                      <a16:colId xmlns:a16="http://schemas.microsoft.com/office/drawing/2014/main" val="373132252"/>
                    </a:ext>
                  </a:extLst>
                </a:gridCol>
                <a:gridCol w="1884338">
                  <a:extLst>
                    <a:ext uri="{9D8B030D-6E8A-4147-A177-3AD203B41FA5}">
                      <a16:colId xmlns:a16="http://schemas.microsoft.com/office/drawing/2014/main" val="3797511387"/>
                    </a:ext>
                  </a:extLst>
                </a:gridCol>
                <a:gridCol w="1884338">
                  <a:extLst>
                    <a:ext uri="{9D8B030D-6E8A-4147-A177-3AD203B41FA5}">
                      <a16:colId xmlns:a16="http://schemas.microsoft.com/office/drawing/2014/main" val="1863785045"/>
                    </a:ext>
                  </a:extLst>
                </a:gridCol>
                <a:gridCol w="1884338">
                  <a:extLst>
                    <a:ext uri="{9D8B030D-6E8A-4147-A177-3AD203B41FA5}">
                      <a16:colId xmlns:a16="http://schemas.microsoft.com/office/drawing/2014/main" val="1413331044"/>
                    </a:ext>
                  </a:extLst>
                </a:gridCol>
                <a:gridCol w="1884338">
                  <a:extLst>
                    <a:ext uri="{9D8B030D-6E8A-4147-A177-3AD203B41FA5}">
                      <a16:colId xmlns:a16="http://schemas.microsoft.com/office/drawing/2014/main" val="2323903204"/>
                    </a:ext>
                  </a:extLst>
                </a:gridCol>
                <a:gridCol w="1884338">
                  <a:extLst>
                    <a:ext uri="{9D8B030D-6E8A-4147-A177-3AD203B41FA5}">
                      <a16:colId xmlns:a16="http://schemas.microsoft.com/office/drawing/2014/main" val="3461821097"/>
                    </a:ext>
                  </a:extLst>
                </a:gridCol>
              </a:tblGrid>
              <a:tr h="579408">
                <a:tc>
                  <a:txBody>
                    <a:bodyPr/>
                    <a:lstStyle/>
                    <a:p>
                      <a:r>
                        <a:rPr lang="en-US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T(</a:t>
                      </a:r>
                      <a:r>
                        <a:rPr lang="en-US" err="1"/>
                        <a:t>ms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D(</a:t>
                      </a:r>
                      <a:r>
                        <a:rPr lang="en-US" err="1"/>
                        <a:t>ms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WCET(ms)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411452"/>
                  </a:ext>
                </a:extLst>
              </a:tr>
              <a:tr h="579408">
                <a:tc>
                  <a:txBody>
                    <a:bodyPr/>
                    <a:lstStyle/>
                    <a:p>
                      <a:r>
                        <a:rPr lang="en-US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ServerTXHandler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Periodic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8102"/>
                  </a:ext>
                </a:extLst>
              </a:tr>
              <a:tr h="579408">
                <a:tc>
                  <a:txBody>
                    <a:bodyPr/>
                    <a:lstStyle/>
                    <a:p>
                      <a:r>
                        <a:rPr lang="en-US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ServerRXHandler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Periodic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657193"/>
                  </a:ext>
                </a:extLst>
              </a:tr>
              <a:tr h="579408">
                <a:tc>
                  <a:txBody>
                    <a:bodyPr/>
                    <a:lstStyle/>
                    <a:p>
                      <a:r>
                        <a:rPr lang="en-US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urgentBrakeAll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Periodic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2855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5D59AF-AFB6-ACB7-1934-17DDBD4D6B0E}"/>
              </a:ext>
            </a:extLst>
          </p:cNvPr>
          <p:cNvSpPr txBox="1"/>
          <p:nvPr/>
        </p:nvSpPr>
        <p:spPr>
          <a:xfrm>
            <a:off x="441735" y="3874069"/>
            <a:ext cx="11587199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Total CPU Utilization = 0.4</a:t>
            </a:r>
          </a:p>
          <a:p>
            <a:r>
              <a:rPr lang="en-US" sz="3200"/>
              <a:t>Bound for RMS = 0.78</a:t>
            </a:r>
          </a:p>
          <a:p>
            <a:r>
              <a:rPr lang="en-US" sz="3200"/>
              <a:t>For EDF: Condition satisfies</a:t>
            </a:r>
          </a:p>
          <a:p>
            <a:r>
              <a:rPr lang="en-US" sz="3200"/>
              <a:t>For RMS: Condition satisfies</a:t>
            </a:r>
          </a:p>
        </p:txBody>
      </p:sp>
    </p:spTree>
    <p:extLst>
      <p:ext uri="{BB962C8B-B14F-4D97-AF65-F5344CB8AC3E}">
        <p14:creationId xmlns:p14="http://schemas.microsoft.com/office/powerpoint/2010/main" val="3380802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1EBD-B219-2D04-F7BF-94CB3EC6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6CCC3-7535-0768-415F-928095621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Early verification of system behavior</a:t>
            </a:r>
          </a:p>
          <a:p>
            <a:r>
              <a:rPr lang="en-US">
                <a:ea typeface="+mn-lt"/>
                <a:cs typeface="+mn-lt"/>
              </a:rPr>
              <a:t>Tests individual functions in isolation</a:t>
            </a:r>
          </a:p>
          <a:p>
            <a:r>
              <a:rPr lang="en-US">
                <a:ea typeface="+mn-lt"/>
                <a:cs typeface="+mn-lt"/>
              </a:rPr>
              <a:t>Implemented using </a:t>
            </a:r>
            <a:r>
              <a:rPr lang="en-US" err="1">
                <a:ea typeface="+mn-lt"/>
                <a:cs typeface="+mn-lt"/>
              </a:rPr>
              <a:t>CUnit</a:t>
            </a:r>
            <a:r>
              <a:rPr lang="en-US">
                <a:ea typeface="+mn-lt"/>
                <a:cs typeface="+mn-lt"/>
              </a:rPr>
              <a:t> framework</a:t>
            </a:r>
          </a:p>
          <a:p>
            <a:r>
              <a:rPr lang="en-US"/>
              <a:t>Goal: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Detect errors before integration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Understanding the reliability of the system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139583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E32A-5F4C-F33B-C6B7-DF7CA790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TEST</a:t>
            </a:r>
          </a:p>
        </p:txBody>
      </p:sp>
      <p:pic>
        <p:nvPicPr>
          <p:cNvPr id="3" name="Picture 2" descr="A table with text on it&#10;&#10;AI-generated content may be incorrect.">
            <a:extLst>
              <a:ext uri="{FF2B5EF4-FFF2-40B4-BE49-F238E27FC236}">
                <a16:creationId xmlns:a16="http://schemas.microsoft.com/office/drawing/2014/main" id="{39B3FE46-9540-3EFD-AF7E-B536F87CE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843" y="1683543"/>
            <a:ext cx="7239001" cy="476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599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0B9C-72F9-EFB0-8627-E92DA87E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DEFECT TEST</a:t>
            </a:r>
          </a:p>
        </p:txBody>
      </p:sp>
      <p:pic>
        <p:nvPicPr>
          <p:cNvPr id="3" name="Picture 2" descr="A table with text on it&#10;&#10;AI-generated content may be incorrect.">
            <a:extLst>
              <a:ext uri="{FF2B5EF4-FFF2-40B4-BE49-F238E27FC236}">
                <a16:creationId xmlns:a16="http://schemas.microsoft.com/office/drawing/2014/main" id="{4D63DD95-53D6-A09E-E9CB-D6D17D0D2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60" y="1694609"/>
            <a:ext cx="6292103" cy="457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50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32E8-1A1C-3218-C676-C780C47D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 TEST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B63F9D-F79E-B553-D9B5-3EB8E3236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1934" y="1836830"/>
            <a:ext cx="6912808" cy="42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51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1425-24CD-5D96-2E47-F7C4FD1D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SUMMARY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419D66-A041-755C-0ED9-9675D4625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6850" y="2167731"/>
            <a:ext cx="92583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698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77ED94-A23E-FB75-9920-B9896EAFAA52}"/>
              </a:ext>
            </a:extLst>
          </p:cNvPr>
          <p:cNvSpPr txBox="1"/>
          <p:nvPr/>
        </p:nvSpPr>
        <p:spPr>
          <a:xfrm>
            <a:off x="4590390" y="2762571"/>
            <a:ext cx="421771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rgbClr val="074E6A"/>
                </a:solidFill>
                <a:latin typeface="Arial Black"/>
              </a:rPr>
              <a:t>Thank You </a:t>
            </a:r>
          </a:p>
        </p:txBody>
      </p:sp>
    </p:spTree>
    <p:extLst>
      <p:ext uri="{BB962C8B-B14F-4D97-AF65-F5344CB8AC3E}">
        <p14:creationId xmlns:p14="http://schemas.microsoft.com/office/powerpoint/2010/main" val="3221171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41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Communication Protocol</vt:lpstr>
      <vt:lpstr>Data/ Signal &amp; Events</vt:lpstr>
      <vt:lpstr>Client‑Side Thread</vt:lpstr>
      <vt:lpstr>Server‑Side Thread</vt:lpstr>
      <vt:lpstr>Logical clock matrix</vt:lpstr>
      <vt:lpstr>Logical clock matrix</vt:lpstr>
      <vt:lpstr>Data Frame Structure &amp; Event Types </vt:lpstr>
      <vt:lpstr>Parsing in TX and RX Threads </vt:lpstr>
      <vt:lpstr>CPU vs GPU Tasks </vt:lpstr>
      <vt:lpstr>Parallel Programming Models </vt:lpstr>
      <vt:lpstr>Matrix Clock Concept </vt:lpstr>
      <vt:lpstr>GPU Matrix Clock Implementation </vt:lpstr>
      <vt:lpstr>Simulation: Speed, Distance &amp; Clock </vt:lpstr>
      <vt:lpstr>GPU Implementation</vt:lpstr>
      <vt:lpstr>System Simulation and Safety Validation Using HC-SR04 and Embedded Control Logic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SCHEDULING</vt:lpstr>
      <vt:lpstr>PowerPoint Presentation</vt:lpstr>
      <vt:lpstr>PowerPoint Presentation</vt:lpstr>
      <vt:lpstr>UNIT TESTING</vt:lpstr>
      <vt:lpstr>VALIDATION TEST</vt:lpstr>
      <vt:lpstr>DEFECT TEST</vt:lpstr>
      <vt:lpstr>COMPONENT TEST</vt:lpstr>
      <vt:lpstr>TEST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Adesh More</dc:creator>
  <cp:revision>27</cp:revision>
  <dcterms:created xsi:type="dcterms:W3CDTF">2026-02-02T21:55:54Z</dcterms:created>
  <dcterms:modified xsi:type="dcterms:W3CDTF">2026-02-04T12:34:18Z</dcterms:modified>
</cp:coreProperties>
</file>